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7315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DATA ANALYSIS PORTFOLIO  ·  PROJECT 4 OF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COVID-19 Healthcare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Trends  ·  Treatment Effectiveness  ·  Vaccination Impact  ·  Risk Factors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77724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3154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 Doshi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5387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AI &amp; Data Science (2025–2027)  |  University of Mumbai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922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9227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2020 – December 2023  |  3,609 records across 4 datasets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306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43068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binaldoshi04@gmail.com  |  github.com/Binal2004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in this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252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datasets, 3,609 records, 2020–2023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12848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COVID-19 Trends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pandemic waves, rolling averages, CFR trends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08960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Comparison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364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countries, CFR, vaccination rates, healthcare index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77056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05072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941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Clinical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patients, severity, ICU, outcomes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1188720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316736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67528" y="1252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Effectiveness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67528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protocols, recovery rates, T-test results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084832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212848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67528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&amp; Demographics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67528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factors, age groups, gender analysis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980944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108960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67528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67528" y="3364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correlation, death reduction, variant analysis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877056"/>
            <a:ext cx="4206240" cy="749808"/>
          </a:xfrm>
          <a:prstGeom prst="roundRect">
            <a:avLst>
              <a:gd name="adj" fmla="val 853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4005072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67528" y="3941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67528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actionable business recommendations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structured datasets covering the full COVID-19 pandemic period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258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 rows · 11 cols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cases, deaths, recoveries,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 (2020–2023)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50592" y="11430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0592" y="13258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50592" y="1920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237744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3774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 · 12 cols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42032" y="2834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CFR, vaccination rate, healthcare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across 12 countries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11430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26864" y="13258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26864" y="1920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Treatment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9744" y="237744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3774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rows · 13 cols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18304" y="2834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comorbidities,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protocols, outcomes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11430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03136" y="13258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💉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03136" y="1920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Impact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86016" y="237744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23774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rows · 8 cols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94576" y="2834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coverage vs cases, deaths,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hospitalizations, variants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1993392" cy="411480"/>
          </a:xfrm>
          <a:prstGeom prst="roundRect">
            <a:avLst>
              <a:gd name="adj" fmla="val 1777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4690872"/>
            <a:ext cx="19933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199339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50592" y="4617720"/>
            <a:ext cx="1993392" cy="411480"/>
          </a:xfrm>
          <a:prstGeom prst="roundRect">
            <a:avLst>
              <a:gd name="adj" fmla="val 1777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450592" y="4690872"/>
            <a:ext cx="19933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450592" y="4864608"/>
            <a:ext cx="199339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26864" y="4617720"/>
            <a:ext cx="1993392" cy="411480"/>
          </a:xfrm>
          <a:prstGeom prst="roundRect">
            <a:avLst>
              <a:gd name="adj" fmla="val 1777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26864" y="4690872"/>
            <a:ext cx="19933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626864" y="4864608"/>
            <a:ext cx="199339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03136" y="4617720"/>
            <a:ext cx="1993392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03136" y="4690872"/>
            <a:ext cx="19933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03136" y="4864608"/>
            <a:ext cx="199339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COVID-19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pandemic metrics at a glance (2020–2023)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216152"/>
            <a:ext cx="1600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773936"/>
            <a:ext cx="16002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Global Cases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1143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216152"/>
            <a:ext cx="1600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~8.4M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93392" y="1773936"/>
            <a:ext cx="16002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58184" y="1143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216152"/>
            <a:ext cx="1600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58184" y="1773936"/>
            <a:ext cx="16002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Daily Cases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22976" y="1143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1216152"/>
            <a:ext cx="1600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22976" y="1773936"/>
            <a:ext cx="16002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Doses Given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87768" y="1143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21527A"/>
          </a:solidFill>
          <a:ln w="12700">
            <a:solidFill>
              <a:srgbClr val="2152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7768" y="1216152"/>
            <a:ext cx="1600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7768" y="1773936"/>
            <a:ext cx="16002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Global CFR</a:t>
            </a:r>
            <a:endParaRPr lang="en-US" sz="900" dirty="0"/>
          </a:p>
        </p:txBody>
      </p:sp>
      <p:pic>
        <p:nvPicPr>
          <p:cNvPr id="23" name="Image 0" descr="/home/claude/project4_covid_analysis/visualizations/viz1_global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331720"/>
            <a:ext cx="8686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Wave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waves identified through rolling average segmentation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00" dirty="0"/>
          </a:p>
        </p:txBody>
      </p:sp>
      <p:pic>
        <p:nvPicPr>
          <p:cNvPr id="8" name="Image 0" descr="/home/claude/project4_covid_analysis/visualizations/viz3_wav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0"/>
            <a:ext cx="548640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1143000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53328" y="1261872"/>
            <a:ext cx="384048" cy="384048"/>
          </a:xfrm>
          <a:prstGeom prst="ellipse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1207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(Original)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10528" y="14813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CFR (2.8%), low case count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0" y="1892808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53328" y="2011680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19568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(Alpha)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10528" y="22311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globally, CFR declining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43600" y="2642616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53328" y="2761488"/>
            <a:ext cx="384048" cy="384048"/>
          </a:xfrm>
          <a:prstGeom prst="ellipse">
            <a:avLst/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27066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(Delta)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0528" y="298094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severity, healthcare strain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943600" y="3392424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53328" y="351129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3456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 (Omicron+)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510528" y="37307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cases (900K/day), low CFR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28600" y="4206240"/>
            <a:ext cx="868680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lIns="0" tIns="0" rIns="762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Wave 4 case volume was 4.5x Wave 1 but CFR was 72% lower due to vaccination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rates and vaccination coverage across 12 countries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00" dirty="0"/>
          </a:p>
        </p:txBody>
      </p:sp>
      <p:pic>
        <p:nvPicPr>
          <p:cNvPr id="8" name="Image 0" descr="/home/claude/project4_covid_analysis/visualizations/viz2_countr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0"/>
            <a:ext cx="86868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4206240"/>
            <a:ext cx="8686800" cy="502920"/>
          </a:xfrm>
          <a:prstGeom prst="rect">
            <a:avLst/>
          </a:prstGeom>
          <a:solidFill>
            <a:srgbClr val="E8F0F8"/>
          </a:solidFill>
          <a:ln/>
        </p:spPr>
        <p:txBody>
          <a:bodyPr wrap="square" lIns="76200" tIns="0" rIns="1016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Index negatively correlates with CFR (r = -0.68, p &lt; 0.05). Countries with HCI &gt; 75 maintain CFR below 1.5%.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Clinical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distribution, outcomes and ICU requirements — 2,000 patients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00" dirty="0"/>
          </a:p>
        </p:txBody>
      </p:sp>
      <p:pic>
        <p:nvPicPr>
          <p:cNvPr id="8" name="Image 0" descr="/home/claude/project4_covid_analysis/visualizations/viz4_patient_seve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0"/>
            <a:ext cx="548640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0" y="1143000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143000"/>
            <a:ext cx="201168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12070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(45%)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26480" y="1481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mortality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avg stay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ICU 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52160" y="1947672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1947672"/>
            <a:ext cx="20116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(35%)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26480" y="22860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mortality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avg stay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ICU rate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852160" y="2752344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2752344"/>
            <a:ext cx="201168" cy="7132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(14%)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26480" y="30906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mortality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16-day avg stay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ICU rate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852160" y="3557016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3557016"/>
            <a:ext cx="201168" cy="713232"/>
          </a:xfrm>
          <a:prstGeom prst="rect">
            <a:avLst/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36210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(6%)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26480" y="389534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mortality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avg stay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ICU rate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Effectiveness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protocols compared on recovery rate, hospitalization days and effectiveness score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00" dirty="0"/>
          </a:p>
        </p:txBody>
      </p:sp>
      <p:pic>
        <p:nvPicPr>
          <p:cNvPr id="8" name="Image 0" descr="/home/claude/project4_covid_analysis/visualizations/viz5_treatment_effective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0"/>
            <a:ext cx="868680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418795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8600" y="4261104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28600" y="4654296"/>
            <a:ext cx="15727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65960" y="418795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965960" y="4261104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965960" y="4654296"/>
            <a:ext cx="15727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03320" y="418795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21527A"/>
          </a:solidFill>
          <a:ln w="12700">
            <a:solidFill>
              <a:srgbClr val="2152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703320" y="4261104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703320" y="4654296"/>
            <a:ext cx="15727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Remdesivir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40680" y="418795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40680" y="4261104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40680" y="4654296"/>
            <a:ext cx="15727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78040" y="418795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78040" y="4261104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178040" y="4654296"/>
            <a:ext cx="15727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&amp; Demographic Risk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conditions and age are the strongest mortality predictors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00" dirty="0"/>
          </a:p>
        </p:txBody>
      </p:sp>
      <p:pic>
        <p:nvPicPr>
          <p:cNvPr id="8" name="Image 0" descr="/home/claude/project4_covid_analysis/visualizations/viz6_comorbidity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43000"/>
            <a:ext cx="4389120" cy="2468880"/>
          </a:xfrm>
          <a:prstGeom prst="rect">
            <a:avLst/>
          </a:prstGeom>
        </p:spPr>
      </p:pic>
      <p:pic>
        <p:nvPicPr>
          <p:cNvPr id="9" name="Image 1" descr="/home/claude/project4_covid_analysis/visualizations/viz9_demographic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43000"/>
            <a:ext cx="4297680" cy="2468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3730752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3822192"/>
            <a:ext cx="347472" cy="347472"/>
          </a:xfrm>
          <a:prstGeom prst="ellipse">
            <a:avLst/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13232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 mortality — highest risk comorbidity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82880" y="4352544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4443984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3232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13232" y="4626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mortality, 40% higher ICU admission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17720" y="3730752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09160" y="3822192"/>
            <a:ext cx="347472" cy="3474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48072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65+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48072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 higher mortality vs 19–35 age group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617720" y="4352544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4443984"/>
            <a:ext cx="347472" cy="347472"/>
          </a:xfrm>
          <a:prstGeom prst="ellipse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48072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148072" y="4626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Severe/Critical vs female patients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Impact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60% coverage is the critical threshold for epidemic control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00" dirty="0"/>
          </a:p>
        </p:txBody>
      </p:sp>
      <p:pic>
        <p:nvPicPr>
          <p:cNvPr id="8" name="Image 0" descr="/home/claude/project4_covid_analysis/visualizations/viz7_vaccination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43000"/>
            <a:ext cx="5943600" cy="3337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1143000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11795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~85,000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09360" y="1600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Deaths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 coverage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309360" y="1993392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20299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~15,000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09360" y="24505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Deaths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 coverage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09360" y="2843784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28803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-82%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309360" y="3300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309360" y="3694176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37307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09360" y="4151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actionable recommendations derived from statistical evidence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Analysis  |  Project 4 of 5  |  Binal Doshi  |  MSc AI &amp; DS, University of Mumbai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28016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Combination Therapy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16276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 first-line for Severe/Critical (p&lt;0.001, 3.2d shorter stay)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395728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" y="2505456"/>
            <a:ext cx="640080" cy="64008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5054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 High-Risk Groups Fast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97280" y="28529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 65+ and comorbid patients — 62% of all deaths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621024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" y="3730752"/>
            <a:ext cx="640080" cy="640080"/>
          </a:xfrm>
          <a:prstGeom prst="ellipse">
            <a:avLst/>
          </a:prstGeom>
          <a:solidFill>
            <a:srgbClr val="CC2936"/>
          </a:solidFill>
          <a:ln w="12700">
            <a:solidFill>
              <a:srgbClr val="CC29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730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7124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ICU Infrastructure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" y="407822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survival predictor for Critical patients in high-CFR nations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170432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128016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Escalation for Comorbids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16276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Heart Disease &amp; Diabetes patients — 35% ICU conversion drop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395728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2505456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Booster Programmes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28529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fewer ICU admissions with &gt;40% booster uptake during Omicron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621024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E8F0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3730752"/>
            <a:ext cx="640080" cy="6400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730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77840" y="37124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Capacity Sharing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77840" y="407822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60→75 could prevent ~35% of excess deaths in vulnerable nations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Healthcare Data Analysis — Project 4 of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603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633472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Daily Cases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25603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2633472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313639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Recovery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633472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13639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Reduction (Vax)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25603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2633472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313639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Mortality Ratio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703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 Binal Doshi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binaldoshi04@gmail.com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github.com/Binal2004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4526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linkedin.com/in/binal-doshi-2005abc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Healthcare Data Analysis</dc:title>
  <dc:subject>Multi-Domain Data Analysis Portfolio — Project 4</dc:subject>
  <dc:creator>Binal Doshi</dc:creator>
  <cp:lastModifiedBy>Binal Doshi</cp:lastModifiedBy>
  <cp:revision>1</cp:revision>
  <dcterms:created xsi:type="dcterms:W3CDTF">2026-06-22T06:21:56Z</dcterms:created>
  <dcterms:modified xsi:type="dcterms:W3CDTF">2026-06-22T06:21:56Z</dcterms:modified>
</cp:coreProperties>
</file>